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Agrandir" panose="020B0604020202020204" charset="0"/>
      <p:regular r:id="rId4"/>
    </p:embeddedFont>
    <p:embeddedFont>
      <p:font typeface="Archivo Black" panose="020B0604020202020204" charset="0"/>
      <p:regular r:id="rId5"/>
    </p:embeddedFont>
    <p:embeddedFont>
      <p:font typeface="Georgia" panose="02040502050405020303" pitchFamily="18" charset="0"/>
      <p:regular r:id="rId6"/>
      <p:bold r:id="rId7"/>
      <p:italic r:id="rId8"/>
      <p:boldItalic r:id="rId9"/>
    </p:embeddedFont>
    <p:embeddedFont>
      <p:font typeface="IreneFlorentina" panose="020B0604020202020204" charset="0"/>
      <p:regular r:id="rId10"/>
    </p:embeddedFont>
    <p:embeddedFont>
      <p:font typeface="Mango AC" panose="020B0604020202020204" charset="0"/>
      <p:regular r:id="rId11"/>
    </p:embeddedFont>
    <p:embeddedFont>
      <p:font typeface="Podkova Ultra-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923" autoAdjust="0"/>
  </p:normalViewPr>
  <p:slideViewPr>
    <p:cSldViewPr>
      <p:cViewPr varScale="1">
        <p:scale>
          <a:sx n="46" d="100"/>
          <a:sy n="46" d="100"/>
        </p:scale>
        <p:origin x="7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677E1-B11D-494F-98BF-4A181A0C2378}" type="datetimeFigureOut">
              <a:rPr lang="es-419" smtClean="0"/>
              <a:t>21/4/2024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5F453-AF6D-4801-B1F7-778892CFA6E8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16797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F453-AF6D-4801-B1F7-778892CFA6E8}" type="slidenum">
              <a:rPr lang="es-419" smtClean="0"/>
              <a:t>1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92793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1565880" y="4814605"/>
            <a:ext cx="6713529" cy="5472395"/>
          </a:xfrm>
          <a:custGeom>
            <a:avLst/>
            <a:gdLst/>
            <a:ahLst/>
            <a:cxnLst/>
            <a:rect l="l" t="t" r="r" b="b"/>
            <a:pathLst>
              <a:path w="8099172" h="7200900">
                <a:moveTo>
                  <a:pt x="0" y="0"/>
                </a:moveTo>
                <a:lnTo>
                  <a:pt x="8099172" y="0"/>
                </a:lnTo>
                <a:lnTo>
                  <a:pt x="8099172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0640" b="-3158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996269" y="-373"/>
            <a:ext cx="5283140" cy="4441349"/>
          </a:xfrm>
          <a:custGeom>
            <a:avLst/>
            <a:gdLst/>
            <a:ahLst/>
            <a:cxnLst/>
            <a:rect l="l" t="t" r="r" b="b"/>
            <a:pathLst>
              <a:path w="6913300" h="5815814">
                <a:moveTo>
                  <a:pt x="0" y="0"/>
                </a:moveTo>
                <a:lnTo>
                  <a:pt x="6913300" y="0"/>
                </a:lnTo>
                <a:lnTo>
                  <a:pt x="6913300" y="5815814"/>
                </a:lnTo>
                <a:lnTo>
                  <a:pt x="0" y="58158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584" t="-30882" r="-28272" b="-6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4257120"/>
            <a:ext cx="5605111" cy="6029879"/>
          </a:xfrm>
          <a:custGeom>
            <a:avLst/>
            <a:gdLst/>
            <a:ahLst/>
            <a:cxnLst/>
            <a:rect l="l" t="t" r="r" b="b"/>
            <a:pathLst>
              <a:path w="6907347" h="7328751">
                <a:moveTo>
                  <a:pt x="0" y="0"/>
                </a:moveTo>
                <a:lnTo>
                  <a:pt x="6907347" y="0"/>
                </a:lnTo>
                <a:lnTo>
                  <a:pt x="6907347" y="7328750"/>
                </a:lnTo>
                <a:lnTo>
                  <a:pt x="0" y="7328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3233" b="-21541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89419" y="4646962"/>
            <a:ext cx="8534647" cy="5671365"/>
          </a:xfrm>
          <a:custGeom>
            <a:avLst/>
            <a:gdLst/>
            <a:ahLst/>
            <a:cxnLst/>
            <a:rect l="l" t="t" r="r" b="b"/>
            <a:pathLst>
              <a:path w="6170320" h="5383604">
                <a:moveTo>
                  <a:pt x="0" y="0"/>
                </a:moveTo>
                <a:lnTo>
                  <a:pt x="6170320" y="0"/>
                </a:lnTo>
                <a:lnTo>
                  <a:pt x="6170320" y="5383604"/>
                </a:lnTo>
                <a:lnTo>
                  <a:pt x="0" y="53836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24527" t="26233" r="3176" b="-23653"/>
            </a:stretch>
          </a:blipFill>
        </p:spPr>
        <p:txBody>
          <a:bodyPr/>
          <a:lstStyle/>
          <a:p>
            <a:endParaRPr lang="es-419" dirty="0"/>
          </a:p>
        </p:txBody>
      </p:sp>
      <p:sp>
        <p:nvSpPr>
          <p:cNvPr id="9" name="Freeform 9"/>
          <p:cNvSpPr/>
          <p:nvPr/>
        </p:nvSpPr>
        <p:spPr>
          <a:xfrm>
            <a:off x="5894038" y="-14496"/>
            <a:ext cx="6116620" cy="3827604"/>
          </a:xfrm>
          <a:custGeom>
            <a:avLst/>
            <a:gdLst/>
            <a:ahLst/>
            <a:cxnLst/>
            <a:rect l="l" t="t" r="r" b="b"/>
            <a:pathLst>
              <a:path w="6116620" h="5022496">
                <a:moveTo>
                  <a:pt x="0" y="0"/>
                </a:moveTo>
                <a:lnTo>
                  <a:pt x="6116620" y="0"/>
                </a:lnTo>
                <a:lnTo>
                  <a:pt x="6116620" y="5022495"/>
                </a:lnTo>
                <a:lnTo>
                  <a:pt x="0" y="50224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3121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868224" y="1964415"/>
            <a:ext cx="8449998" cy="155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6"/>
              </a:lnSpc>
            </a:pPr>
            <a:r>
              <a:rPr lang="es-419" sz="6006" dirty="0">
                <a:solidFill>
                  <a:srgbClr val="202F5A"/>
                </a:solidFill>
                <a:latin typeface="Agrandir"/>
              </a:rPr>
              <a:t>Teoría de</a:t>
            </a:r>
          </a:p>
          <a:p>
            <a:pPr algn="ctr">
              <a:lnSpc>
                <a:spcPts val="6006"/>
              </a:lnSpc>
              <a:spcBef>
                <a:spcPct val="0"/>
              </a:spcBef>
            </a:pPr>
            <a:r>
              <a:rPr lang="es-419" sz="6006" dirty="0">
                <a:solidFill>
                  <a:srgbClr val="202F5A"/>
                </a:solidFill>
                <a:latin typeface="Agrandir"/>
              </a:rPr>
              <a:t>Albert Bandura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20749" y="3527895"/>
            <a:ext cx="5382621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419" sz="7200" dirty="0">
                <a:solidFill>
                  <a:srgbClr val="202F5A"/>
                </a:solidFill>
                <a:latin typeface="Podkova Ultra-Bold"/>
              </a:rPr>
              <a:t>Aprendizaje Social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A45C6D3-D753-4B8B-9B6C-A5D13A089366}"/>
              </a:ext>
            </a:extLst>
          </p:cNvPr>
          <p:cNvSpPr txBox="1"/>
          <p:nvPr/>
        </p:nvSpPr>
        <p:spPr>
          <a:xfrm>
            <a:off x="12725400" y="565964"/>
            <a:ext cx="4648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800" dirty="0">
                <a:solidFill>
                  <a:srgbClr val="3A1E0C"/>
                </a:solidFill>
                <a:latin typeface="Mango AC"/>
              </a:rPr>
              <a:t>¿Qué es la Teoría del Aprendizaje Social?</a:t>
            </a:r>
            <a:endParaRPr lang="es-419" sz="28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A869870-1BAA-F6C5-802A-F3C28A86E6F0}"/>
              </a:ext>
            </a:extLst>
          </p:cNvPr>
          <p:cNvSpPr txBox="1"/>
          <p:nvPr/>
        </p:nvSpPr>
        <p:spPr>
          <a:xfrm>
            <a:off x="12725400" y="5001572"/>
            <a:ext cx="4648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800" dirty="0">
                <a:solidFill>
                  <a:srgbClr val="3A1E0C"/>
                </a:solidFill>
                <a:latin typeface="Mango AC"/>
              </a:rPr>
              <a:t>Observación de modelo e imitación</a:t>
            </a:r>
            <a:endParaRPr lang="es-419" sz="28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06C9091-0AE7-F532-3C60-6D092AC99048}"/>
              </a:ext>
            </a:extLst>
          </p:cNvPr>
          <p:cNvSpPr txBox="1"/>
          <p:nvPr/>
        </p:nvSpPr>
        <p:spPr>
          <a:xfrm>
            <a:off x="2283355" y="6020352"/>
            <a:ext cx="4648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800" dirty="0">
                <a:solidFill>
                  <a:srgbClr val="3A1E0C"/>
                </a:solidFill>
                <a:latin typeface="Mango AC"/>
              </a:rPr>
              <a:t>Refuerzo o Castigo</a:t>
            </a:r>
            <a:endParaRPr lang="es-419" sz="28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4F478D3-2C72-4469-1CED-C5A14F910606}"/>
              </a:ext>
            </a:extLst>
          </p:cNvPr>
          <p:cNvSpPr txBox="1"/>
          <p:nvPr/>
        </p:nvSpPr>
        <p:spPr>
          <a:xfrm>
            <a:off x="531096" y="429201"/>
            <a:ext cx="4648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2800" dirty="0">
                <a:solidFill>
                  <a:srgbClr val="3A1E0C"/>
                </a:solidFill>
                <a:latin typeface="Mango AC"/>
              </a:rPr>
              <a:t>Los cuatros Procesos del Aprendizaje</a:t>
            </a:r>
            <a:endParaRPr lang="es-419" sz="2800" dirty="0"/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26D6712D-3BD9-016B-E4D3-11385B427E05}"/>
              </a:ext>
            </a:extLst>
          </p:cNvPr>
          <p:cNvSpPr txBox="1"/>
          <p:nvPr/>
        </p:nvSpPr>
        <p:spPr>
          <a:xfrm>
            <a:off x="12481305" y="1670360"/>
            <a:ext cx="5020168" cy="2281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419" sz="2000" dirty="0">
                <a:latin typeface="Georgia" panose="02040502050405020303" pitchFamily="18" charset="0"/>
              </a:rPr>
              <a:t>Es un enfoque teórico que destaca la importancia de la observación, la imitación y el modelado en el proceso de aprendizaje.</a:t>
            </a:r>
          </a:p>
          <a:p>
            <a:pPr algn="ctr"/>
            <a:r>
              <a:rPr lang="es-419" sz="2000" dirty="0">
                <a:latin typeface="Georgia" panose="02040502050405020303" pitchFamily="18" charset="0"/>
              </a:rPr>
              <a:t>También recibe el nombre de Aprendizaje: vicario, observacional, imitación, modelo o cognitivo social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endParaRPr lang="es-419" sz="2000" dirty="0">
              <a:latin typeface="Georgia" panose="02040502050405020303" pitchFamily="18" charset="0"/>
            </a:endParaRPr>
          </a:p>
        </p:txBody>
      </p:sp>
      <p:sp>
        <p:nvSpPr>
          <p:cNvPr id="18" name="TextBox 6"/>
          <p:cNvSpPr txBox="1"/>
          <p:nvPr/>
        </p:nvSpPr>
        <p:spPr>
          <a:xfrm>
            <a:off x="14904809" y="6490986"/>
            <a:ext cx="3288845" cy="350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3176"/>
              </a:lnSpc>
              <a:spcBef>
                <a:spcPct val="0"/>
              </a:spcBef>
              <a:defRPr sz="1600" b="1">
                <a:solidFill>
                  <a:srgbClr val="3A1E0C"/>
                </a:solidFill>
                <a:latin typeface="IreneFlorentina"/>
              </a:defRPr>
            </a:lvl1pPr>
          </a:lstStyle>
          <a:p>
            <a:r>
              <a:rPr lang="es-419" dirty="0"/>
              <a:t>Imitación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46196895-5F43-8290-89FF-366A909222F8}"/>
              </a:ext>
            </a:extLst>
          </p:cNvPr>
          <p:cNvGrpSpPr/>
          <p:nvPr/>
        </p:nvGrpSpPr>
        <p:grpSpPr>
          <a:xfrm>
            <a:off x="7607896" y="6834765"/>
            <a:ext cx="2953311" cy="1316333"/>
            <a:chOff x="7607896" y="6834765"/>
            <a:chExt cx="2953311" cy="1316333"/>
          </a:xfrm>
        </p:grpSpPr>
        <p:sp>
          <p:nvSpPr>
            <p:cNvPr id="19" name="TextBox 7"/>
            <p:cNvSpPr txBox="1"/>
            <p:nvPr/>
          </p:nvSpPr>
          <p:spPr>
            <a:xfrm>
              <a:off x="7685387" y="6834765"/>
              <a:ext cx="2533921" cy="3671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76"/>
                </a:lnSpc>
                <a:spcBef>
                  <a:spcPct val="0"/>
                </a:spcBef>
              </a:pPr>
              <a:r>
                <a:rPr lang="es-419" sz="2000" b="1" dirty="0">
                  <a:latin typeface="Georgia" panose="02040502050405020303" pitchFamily="18" charset="0"/>
                </a:rPr>
                <a:t>Modelo</a:t>
              </a:r>
            </a:p>
          </p:txBody>
        </p:sp>
        <p:sp>
          <p:nvSpPr>
            <p:cNvPr id="20" name="TextBox 6">
              <a:extLst>
                <a:ext uri="{FF2B5EF4-FFF2-40B4-BE49-F238E27FC236}">
                  <a16:creationId xmlns:a16="http://schemas.microsoft.com/office/drawing/2014/main" id="{EE19B4E6-8339-98B7-ED5C-71DA7A536446}"/>
                </a:ext>
              </a:extLst>
            </p:cNvPr>
            <p:cNvSpPr txBox="1"/>
            <p:nvPr/>
          </p:nvSpPr>
          <p:spPr>
            <a:xfrm>
              <a:off x="7607896" y="7227768"/>
              <a:ext cx="2953311" cy="9233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s-419" sz="2000" dirty="0">
                  <a:latin typeface="Georgia" panose="02040502050405020303" pitchFamily="18" charset="0"/>
                </a:rPr>
                <a:t>Es el refleja deseado por otro individuo que conlleva a la imitación</a:t>
              </a: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46DEE27-F985-6324-D1FB-18B6177A8E0A}"/>
              </a:ext>
            </a:extLst>
          </p:cNvPr>
          <p:cNvGrpSpPr/>
          <p:nvPr/>
        </p:nvGrpSpPr>
        <p:grpSpPr>
          <a:xfrm>
            <a:off x="10756294" y="7354429"/>
            <a:ext cx="3288844" cy="1294126"/>
            <a:chOff x="10756294" y="7354429"/>
            <a:chExt cx="3288844" cy="1294126"/>
          </a:xfrm>
        </p:grpSpPr>
        <p:sp>
          <p:nvSpPr>
            <p:cNvPr id="21" name="TextBox 7">
              <a:extLst>
                <a:ext uri="{FF2B5EF4-FFF2-40B4-BE49-F238E27FC236}">
                  <a16:creationId xmlns:a16="http://schemas.microsoft.com/office/drawing/2014/main" id="{14D4A29E-35BC-DE9D-907C-18EE206CD921}"/>
                </a:ext>
              </a:extLst>
            </p:cNvPr>
            <p:cNvSpPr txBox="1"/>
            <p:nvPr/>
          </p:nvSpPr>
          <p:spPr>
            <a:xfrm>
              <a:off x="11133755" y="7354429"/>
              <a:ext cx="2533921" cy="36715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176"/>
                </a:lnSpc>
                <a:spcBef>
                  <a:spcPct val="0"/>
                </a:spcBef>
              </a:pPr>
              <a:r>
                <a:rPr lang="es-419" sz="2000" b="1" dirty="0">
                  <a:latin typeface="Georgia" panose="02040502050405020303" pitchFamily="18" charset="0"/>
                </a:rPr>
                <a:t>sujeto</a:t>
              </a:r>
            </a:p>
          </p:txBody>
        </p:sp>
        <p:sp>
          <p:nvSpPr>
            <p:cNvPr id="22" name="TextBox 6">
              <a:extLst>
                <a:ext uri="{FF2B5EF4-FFF2-40B4-BE49-F238E27FC236}">
                  <a16:creationId xmlns:a16="http://schemas.microsoft.com/office/drawing/2014/main" id="{102D14A4-567F-AAF5-A58B-6213F09145F2}"/>
                </a:ext>
              </a:extLst>
            </p:cNvPr>
            <p:cNvSpPr txBox="1"/>
            <p:nvPr/>
          </p:nvSpPr>
          <p:spPr>
            <a:xfrm>
              <a:off x="10756294" y="7725225"/>
              <a:ext cx="3288844" cy="9233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s-419" sz="2000" dirty="0">
                  <a:latin typeface="Georgia" panose="02040502050405020303" pitchFamily="18" charset="0"/>
                </a:rPr>
                <a:t>Es el refleja deseado por otro individuo que conlleva a la imitación</a:t>
              </a:r>
            </a:p>
          </p:txBody>
        </p:sp>
      </p:grpSp>
      <p:sp>
        <p:nvSpPr>
          <p:cNvPr id="23" name="TextBox 7">
            <a:extLst>
              <a:ext uri="{FF2B5EF4-FFF2-40B4-BE49-F238E27FC236}">
                <a16:creationId xmlns:a16="http://schemas.microsoft.com/office/drawing/2014/main" id="{E6E80CCE-8B22-E343-95CC-253036693DCD}"/>
              </a:ext>
            </a:extLst>
          </p:cNvPr>
          <p:cNvSpPr txBox="1"/>
          <p:nvPr/>
        </p:nvSpPr>
        <p:spPr>
          <a:xfrm>
            <a:off x="10462348" y="5904361"/>
            <a:ext cx="2533921" cy="761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6"/>
              </a:lnSpc>
              <a:spcBef>
                <a:spcPct val="0"/>
              </a:spcBef>
            </a:pPr>
            <a:r>
              <a:rPr lang="es-419" sz="1600" b="1" dirty="0">
                <a:solidFill>
                  <a:srgbClr val="3A1E0C"/>
                </a:solidFill>
                <a:latin typeface="IreneFlorentina"/>
              </a:rPr>
              <a:t>Se base en dos personas</a:t>
            </a: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6982CC70-C01A-31A4-9FEF-4D23101819C6}"/>
              </a:ext>
            </a:extLst>
          </p:cNvPr>
          <p:cNvSpPr txBox="1"/>
          <p:nvPr/>
        </p:nvSpPr>
        <p:spPr>
          <a:xfrm>
            <a:off x="14922644" y="6896938"/>
            <a:ext cx="3288844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s-419" sz="2000" dirty="0">
                <a:latin typeface="Georgia" panose="02040502050405020303" pitchFamily="18" charset="0"/>
              </a:rPr>
              <a:t>Sostiene que las personas aprenden observando a otros y reproduciendo sus comportamientos.</a:t>
            </a:r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79CC07BE-7CC5-CE88-35CC-A7790F922759}"/>
              </a:ext>
            </a:extLst>
          </p:cNvPr>
          <p:cNvCxnSpPr>
            <a:cxnSpLocks/>
            <a:stCxn id="23" idx="2"/>
            <a:endCxn id="19" idx="0"/>
          </p:cNvCxnSpPr>
          <p:nvPr/>
        </p:nvCxnSpPr>
        <p:spPr>
          <a:xfrm flipH="1">
            <a:off x="8952348" y="6665403"/>
            <a:ext cx="2776961" cy="169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8E3A3A6C-19EF-7B3D-DC7F-C9A3E8D7DEDA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11729309" y="6665403"/>
            <a:ext cx="671406" cy="558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5" name="Conector: curvado 34">
            <a:extLst>
              <a:ext uri="{FF2B5EF4-FFF2-40B4-BE49-F238E27FC236}">
                <a16:creationId xmlns:a16="http://schemas.microsoft.com/office/drawing/2014/main" id="{DE93F086-CE57-DCC2-7F18-0E4B4C827D6F}"/>
              </a:ext>
            </a:extLst>
          </p:cNvPr>
          <p:cNvCxnSpPr>
            <a:stCxn id="14" idx="1"/>
            <a:endCxn id="23" idx="0"/>
          </p:cNvCxnSpPr>
          <p:nvPr/>
        </p:nvCxnSpPr>
        <p:spPr>
          <a:xfrm rot="10800000" flipV="1">
            <a:off x="11729310" y="5478625"/>
            <a:ext cx="996091" cy="42573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Conector: curvado 36">
            <a:extLst>
              <a:ext uri="{FF2B5EF4-FFF2-40B4-BE49-F238E27FC236}">
                <a16:creationId xmlns:a16="http://schemas.microsoft.com/office/drawing/2014/main" id="{A9574F9C-6705-F27E-315A-27852999135A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 rot="16200000" flipH="1">
            <a:off x="15531713" y="5473466"/>
            <a:ext cx="535307" cy="149973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8" name="TextBox 4">
            <a:extLst>
              <a:ext uri="{FF2B5EF4-FFF2-40B4-BE49-F238E27FC236}">
                <a16:creationId xmlns:a16="http://schemas.microsoft.com/office/drawing/2014/main" id="{05BB1409-A419-8BFE-D052-283F281CECD8}"/>
              </a:ext>
            </a:extLst>
          </p:cNvPr>
          <p:cNvSpPr txBox="1"/>
          <p:nvPr/>
        </p:nvSpPr>
        <p:spPr>
          <a:xfrm>
            <a:off x="1756596" y="6543572"/>
            <a:ext cx="5030268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s-419" sz="2000" dirty="0">
                <a:latin typeface="Georgia" panose="02040502050405020303" pitchFamily="18" charset="0"/>
              </a:rPr>
              <a:t>Juega un papel importante en el aprendizaje social. Los individuos tienden a imitar los comportamientos que son reforzados positivamente o que producen resultados deseados. Del mismo modo, es menos probable que imiten comportamientos que son castigados o que conducen a consecuencias negativas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8B7CF06E-288A-5653-7852-621985EF4568}"/>
              </a:ext>
            </a:extLst>
          </p:cNvPr>
          <p:cNvGrpSpPr/>
          <p:nvPr/>
        </p:nvGrpSpPr>
        <p:grpSpPr>
          <a:xfrm>
            <a:off x="163861" y="1383308"/>
            <a:ext cx="4568128" cy="3701381"/>
            <a:chOff x="2714049" y="1803979"/>
            <a:chExt cx="8980812" cy="7346717"/>
          </a:xfrm>
        </p:grpSpPr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E1427F84-10C7-D4A2-3000-964976AD8BB6}"/>
                </a:ext>
              </a:extLst>
            </p:cNvPr>
            <p:cNvSpPr/>
            <p:nvPr/>
          </p:nvSpPr>
          <p:spPr>
            <a:xfrm>
              <a:off x="3373815" y="1803979"/>
              <a:ext cx="7346716" cy="7346717"/>
            </a:xfrm>
            <a:custGeom>
              <a:avLst/>
              <a:gdLst/>
              <a:ahLst/>
              <a:cxnLst/>
              <a:rect l="l" t="t" r="r" b="b"/>
              <a:pathLst>
                <a:path w="7346717" h="7346717">
                  <a:moveTo>
                    <a:pt x="0" y="0"/>
                  </a:moveTo>
                  <a:lnTo>
                    <a:pt x="7346718" y="0"/>
                  </a:lnTo>
                  <a:lnTo>
                    <a:pt x="7346718" y="7346717"/>
                  </a:lnTo>
                  <a:lnTo>
                    <a:pt x="0" y="7346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2" name="TextBox 8">
              <a:extLst>
                <a:ext uri="{FF2B5EF4-FFF2-40B4-BE49-F238E27FC236}">
                  <a16:creationId xmlns:a16="http://schemas.microsoft.com/office/drawing/2014/main" id="{85246DCB-E958-97C8-2725-74F3DDBFF79D}"/>
                </a:ext>
              </a:extLst>
            </p:cNvPr>
            <p:cNvSpPr txBox="1"/>
            <p:nvPr/>
          </p:nvSpPr>
          <p:spPr>
            <a:xfrm>
              <a:off x="4723331" y="7438970"/>
              <a:ext cx="4647686" cy="427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s-419" sz="1400" dirty="0">
                  <a:solidFill>
                    <a:srgbClr val="3A1E0C"/>
                  </a:solidFill>
                  <a:latin typeface="Archivo Black"/>
                </a:rPr>
                <a:t>Retención</a:t>
              </a:r>
            </a:p>
          </p:txBody>
        </p:sp>
        <p:sp>
          <p:nvSpPr>
            <p:cNvPr id="43" name="TextBox 9">
              <a:extLst>
                <a:ext uri="{FF2B5EF4-FFF2-40B4-BE49-F238E27FC236}">
                  <a16:creationId xmlns:a16="http://schemas.microsoft.com/office/drawing/2014/main" id="{CBD0C06E-3ECF-F248-D0EC-D299674EDC1A}"/>
                </a:ext>
              </a:extLst>
            </p:cNvPr>
            <p:cNvSpPr txBox="1"/>
            <p:nvPr/>
          </p:nvSpPr>
          <p:spPr>
            <a:xfrm>
              <a:off x="7047175" y="4986517"/>
              <a:ext cx="4647686" cy="4276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s-419" sz="1400" dirty="0">
                  <a:solidFill>
                    <a:srgbClr val="3A1E0C"/>
                  </a:solidFill>
                  <a:latin typeface="Archivo Black"/>
                </a:rPr>
                <a:t>Atención</a:t>
              </a:r>
            </a:p>
          </p:txBody>
        </p:sp>
        <p:sp>
          <p:nvSpPr>
            <p:cNvPr id="44" name="TextBox 10">
              <a:extLst>
                <a:ext uri="{FF2B5EF4-FFF2-40B4-BE49-F238E27FC236}">
                  <a16:creationId xmlns:a16="http://schemas.microsoft.com/office/drawing/2014/main" id="{2A899DB7-8211-C2D1-5AF9-2D3113E85EA4}"/>
                </a:ext>
              </a:extLst>
            </p:cNvPr>
            <p:cNvSpPr txBox="1"/>
            <p:nvPr/>
          </p:nvSpPr>
          <p:spPr>
            <a:xfrm>
              <a:off x="4681136" y="2122358"/>
              <a:ext cx="4647686" cy="1420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endParaRPr lang="es-419" sz="1050" dirty="0"/>
            </a:p>
            <a:p>
              <a:pPr algn="ctr">
                <a:spcBef>
                  <a:spcPct val="0"/>
                </a:spcBef>
              </a:pPr>
              <a:r>
                <a:rPr lang="es-419" sz="1400" dirty="0">
                  <a:solidFill>
                    <a:srgbClr val="3A1E0C"/>
                  </a:solidFill>
                  <a:latin typeface="Archivo Black"/>
                </a:rPr>
                <a:t>Motivación</a:t>
              </a:r>
            </a:p>
          </p:txBody>
        </p:sp>
        <p:sp>
          <p:nvSpPr>
            <p:cNvPr id="45" name="TextBox 11">
              <a:extLst>
                <a:ext uri="{FF2B5EF4-FFF2-40B4-BE49-F238E27FC236}">
                  <a16:creationId xmlns:a16="http://schemas.microsoft.com/office/drawing/2014/main" id="{8CBCBBD5-082B-1D4D-99F4-182A380C473F}"/>
                </a:ext>
              </a:extLst>
            </p:cNvPr>
            <p:cNvSpPr txBox="1"/>
            <p:nvPr/>
          </p:nvSpPr>
          <p:spPr>
            <a:xfrm>
              <a:off x="2714049" y="4509472"/>
              <a:ext cx="4647686" cy="14203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s-419" sz="1400" dirty="0">
                  <a:solidFill>
                    <a:srgbClr val="3A1E0C"/>
                  </a:solidFill>
                  <a:latin typeface="Archivo Black"/>
                </a:rPr>
                <a:t>Reproducción </a:t>
              </a:r>
            </a:p>
            <a:p>
              <a:pPr algn="ctr">
                <a:spcBef>
                  <a:spcPct val="0"/>
                </a:spcBef>
              </a:pPr>
              <a:r>
                <a:rPr lang="es-419" sz="1400" dirty="0">
                  <a:solidFill>
                    <a:srgbClr val="3A1E0C"/>
                  </a:solidFill>
                  <a:latin typeface="Archivo Black"/>
                </a:rPr>
                <a:t>de Matriz</a:t>
              </a:r>
            </a:p>
          </p:txBody>
        </p:sp>
      </p:grpSp>
      <p:cxnSp>
        <p:nvCxnSpPr>
          <p:cNvPr id="47" name="Conector: curvado 46">
            <a:extLst>
              <a:ext uri="{FF2B5EF4-FFF2-40B4-BE49-F238E27FC236}">
                <a16:creationId xmlns:a16="http://schemas.microsoft.com/office/drawing/2014/main" id="{0E3D827C-7734-F89B-CF31-21B63CEDA1BD}"/>
              </a:ext>
            </a:extLst>
          </p:cNvPr>
          <p:cNvCxnSpPr>
            <a:stCxn id="11" idx="1"/>
            <a:endCxn id="15" idx="0"/>
          </p:cNvCxnSpPr>
          <p:nvPr/>
        </p:nvCxnSpPr>
        <p:spPr>
          <a:xfrm rot="10800000" flipV="1">
            <a:off x="4607455" y="4635890"/>
            <a:ext cx="1713294" cy="1384461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8" name="Conector: curvado 47">
            <a:extLst>
              <a:ext uri="{FF2B5EF4-FFF2-40B4-BE49-F238E27FC236}">
                <a16:creationId xmlns:a16="http://schemas.microsoft.com/office/drawing/2014/main" id="{D9CB503E-1D95-AB67-1896-42EFDEE9A2AF}"/>
              </a:ext>
            </a:extLst>
          </p:cNvPr>
          <p:cNvCxnSpPr>
            <a:cxnSpLocks/>
            <a:endCxn id="16" idx="0"/>
          </p:cNvCxnSpPr>
          <p:nvPr/>
        </p:nvCxnSpPr>
        <p:spPr>
          <a:xfrm rot="10800000">
            <a:off x="2855196" y="429202"/>
            <a:ext cx="3601546" cy="2315053"/>
          </a:xfrm>
          <a:prstGeom prst="curvedConnector4">
            <a:avLst>
              <a:gd name="adj1" fmla="val 17735"/>
              <a:gd name="adj2" fmla="val 109875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1" name="Conector: curvado 50">
            <a:extLst>
              <a:ext uri="{FF2B5EF4-FFF2-40B4-BE49-F238E27FC236}">
                <a16:creationId xmlns:a16="http://schemas.microsoft.com/office/drawing/2014/main" id="{31B65913-FD19-7959-1829-0F8BEECC87E0}"/>
              </a:ext>
            </a:extLst>
          </p:cNvPr>
          <p:cNvCxnSpPr>
            <a:cxnSpLocks/>
            <a:stCxn id="10" idx="0"/>
            <a:endCxn id="13" idx="0"/>
          </p:cNvCxnSpPr>
          <p:nvPr/>
        </p:nvCxnSpPr>
        <p:spPr>
          <a:xfrm rot="5400000" flipH="1" flipV="1">
            <a:off x="11372136" y="-1712948"/>
            <a:ext cx="1398451" cy="5956277"/>
          </a:xfrm>
          <a:prstGeom prst="curvedConnector3">
            <a:avLst>
              <a:gd name="adj1" fmla="val 116347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7" name="Conector: curvado 56">
            <a:extLst>
              <a:ext uri="{FF2B5EF4-FFF2-40B4-BE49-F238E27FC236}">
                <a16:creationId xmlns:a16="http://schemas.microsoft.com/office/drawing/2014/main" id="{AFED5B05-31C4-40B4-388E-C8D0DF7637A6}"/>
              </a:ext>
            </a:extLst>
          </p:cNvPr>
          <p:cNvCxnSpPr>
            <a:cxnSpLocks/>
            <a:stCxn id="11" idx="3"/>
            <a:endCxn id="14" idx="0"/>
          </p:cNvCxnSpPr>
          <p:nvPr/>
        </p:nvCxnSpPr>
        <p:spPr>
          <a:xfrm>
            <a:off x="11703370" y="4635891"/>
            <a:ext cx="3346130" cy="365681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165</Words>
  <Application>Microsoft Office PowerPoint</Application>
  <PresentationFormat>Personalizado</PresentationFormat>
  <Paragraphs>24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Agrandir</vt:lpstr>
      <vt:lpstr>Podkova Ultra-Bold</vt:lpstr>
      <vt:lpstr>Archivo Black</vt:lpstr>
      <vt:lpstr>Georgia</vt:lpstr>
      <vt:lpstr>Mango AC</vt:lpstr>
      <vt:lpstr>Arial</vt:lpstr>
      <vt:lpstr>Calibri</vt:lpstr>
      <vt:lpstr>IreneFlorentina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Microbiología</dc:title>
  <dc:creator>User</dc:creator>
  <cp:lastModifiedBy>FRANK CLEMENTE</cp:lastModifiedBy>
  <cp:revision>4</cp:revision>
  <dcterms:created xsi:type="dcterms:W3CDTF">2006-08-16T00:00:00Z</dcterms:created>
  <dcterms:modified xsi:type="dcterms:W3CDTF">2024-04-22T02:10:17Z</dcterms:modified>
  <dc:identifier>DAGDGK_-ciA</dc:identifier>
</cp:coreProperties>
</file>