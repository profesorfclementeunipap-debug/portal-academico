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Dynapuff SemiCondensed" panose="020B0604020202020204" charset="0"/>
      <p:regular r:id="rId3"/>
    </p:embeddedFont>
    <p:embeddedFont>
      <p:font typeface="Dynapuff SemiCondensed Bold" panose="020B0604020202020204" charset="0"/>
      <p:regular r:id="rId4"/>
    </p:embeddedFont>
    <p:embeddedFont>
      <p:font typeface="More Sugar" panose="020B0604020202020204" charset="0"/>
      <p:regular r:id="rId5"/>
    </p:embeddedFont>
    <p:embeddedFont>
      <p:font typeface="More Sugar Thin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svg"/><Relationship Id="rId34" Type="http://schemas.openxmlformats.org/officeDocument/2006/relationships/image" Target="../media/image33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970">
            <a:off x="150607" y="8636040"/>
            <a:ext cx="6333263" cy="2590880"/>
          </a:xfrm>
          <a:custGeom>
            <a:avLst/>
            <a:gdLst/>
            <a:ahLst/>
            <a:cxnLst/>
            <a:rect l="l" t="t" r="r" b="b"/>
            <a:pathLst>
              <a:path w="6333263" h="2590880">
                <a:moveTo>
                  <a:pt x="0" y="0"/>
                </a:moveTo>
                <a:lnTo>
                  <a:pt x="6333264" y="0"/>
                </a:lnTo>
                <a:lnTo>
                  <a:pt x="6333264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509240">
            <a:off x="7780178" y="6923947"/>
            <a:ext cx="1834114" cy="6463839"/>
          </a:xfrm>
          <a:custGeom>
            <a:avLst/>
            <a:gdLst/>
            <a:ahLst/>
            <a:cxnLst/>
            <a:rect l="l" t="t" r="r" b="b"/>
            <a:pathLst>
              <a:path w="1834114" h="6463839">
                <a:moveTo>
                  <a:pt x="0" y="0"/>
                </a:moveTo>
                <a:lnTo>
                  <a:pt x="1834114" y="0"/>
                </a:lnTo>
                <a:lnTo>
                  <a:pt x="1834114" y="6463839"/>
                </a:lnTo>
                <a:lnTo>
                  <a:pt x="0" y="6463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748160">
            <a:off x="16494753" y="5102781"/>
            <a:ext cx="4085577" cy="2762871"/>
          </a:xfrm>
          <a:custGeom>
            <a:avLst/>
            <a:gdLst/>
            <a:ahLst/>
            <a:cxnLst/>
            <a:rect l="l" t="t" r="r" b="b"/>
            <a:pathLst>
              <a:path w="4085577" h="2762871">
                <a:moveTo>
                  <a:pt x="0" y="0"/>
                </a:moveTo>
                <a:lnTo>
                  <a:pt x="4085577" y="0"/>
                </a:lnTo>
                <a:lnTo>
                  <a:pt x="4085577" y="2762871"/>
                </a:lnTo>
                <a:lnTo>
                  <a:pt x="0" y="2762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503704">
            <a:off x="13860455" y="7139448"/>
            <a:ext cx="4624209" cy="3589542"/>
          </a:xfrm>
          <a:custGeom>
            <a:avLst/>
            <a:gdLst/>
            <a:ahLst/>
            <a:cxnLst/>
            <a:rect l="l" t="t" r="r" b="b"/>
            <a:pathLst>
              <a:path w="4624209" h="3589542">
                <a:moveTo>
                  <a:pt x="0" y="0"/>
                </a:moveTo>
                <a:lnTo>
                  <a:pt x="4624209" y="0"/>
                </a:lnTo>
                <a:lnTo>
                  <a:pt x="4624209" y="3589542"/>
                </a:lnTo>
                <a:lnTo>
                  <a:pt x="0" y="35895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67323">
            <a:off x="-1013768" y="-1284542"/>
            <a:ext cx="4209514" cy="4114800"/>
          </a:xfrm>
          <a:custGeom>
            <a:avLst/>
            <a:gdLst/>
            <a:ahLst/>
            <a:cxnLst/>
            <a:rect l="l" t="t" r="r" b="b"/>
            <a:pathLst>
              <a:path w="4209514" h="4114800">
                <a:moveTo>
                  <a:pt x="0" y="0"/>
                </a:moveTo>
                <a:lnTo>
                  <a:pt x="4209514" y="0"/>
                </a:lnTo>
                <a:lnTo>
                  <a:pt x="4209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31247">
            <a:off x="-2591441" y="-1149519"/>
            <a:ext cx="4219567" cy="4808623"/>
          </a:xfrm>
          <a:custGeom>
            <a:avLst/>
            <a:gdLst/>
            <a:ahLst/>
            <a:cxnLst/>
            <a:rect l="l" t="t" r="r" b="b"/>
            <a:pathLst>
              <a:path w="4219567" h="4808623">
                <a:moveTo>
                  <a:pt x="0" y="0"/>
                </a:moveTo>
                <a:lnTo>
                  <a:pt x="4219566" y="0"/>
                </a:lnTo>
                <a:lnTo>
                  <a:pt x="4219566" y="4808623"/>
                </a:lnTo>
                <a:lnTo>
                  <a:pt x="0" y="48086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68278" flipV="1">
            <a:off x="12418320" y="-1139083"/>
            <a:ext cx="6319221" cy="2590880"/>
          </a:xfrm>
          <a:custGeom>
            <a:avLst/>
            <a:gdLst/>
            <a:ahLst/>
            <a:cxnLst/>
            <a:rect l="l" t="t" r="r" b="b"/>
            <a:pathLst>
              <a:path w="6319221" h="2590880">
                <a:moveTo>
                  <a:pt x="0" y="2590880"/>
                </a:moveTo>
                <a:lnTo>
                  <a:pt x="6319221" y="2590880"/>
                </a:lnTo>
                <a:lnTo>
                  <a:pt x="6319221" y="0"/>
                </a:lnTo>
                <a:lnTo>
                  <a:pt x="0" y="0"/>
                </a:lnTo>
                <a:lnTo>
                  <a:pt x="0" y="25908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706555">
            <a:off x="3090835" y="-980492"/>
            <a:ext cx="9821124" cy="2467557"/>
          </a:xfrm>
          <a:custGeom>
            <a:avLst/>
            <a:gdLst/>
            <a:ahLst/>
            <a:cxnLst/>
            <a:rect l="l" t="t" r="r" b="b"/>
            <a:pathLst>
              <a:path w="9821124" h="2467557">
                <a:moveTo>
                  <a:pt x="0" y="0"/>
                </a:moveTo>
                <a:lnTo>
                  <a:pt x="9821124" y="0"/>
                </a:lnTo>
                <a:lnTo>
                  <a:pt x="9821124" y="2467557"/>
                </a:lnTo>
                <a:lnTo>
                  <a:pt x="0" y="24675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934476">
            <a:off x="-4139258" y="3585631"/>
            <a:ext cx="7315200" cy="3566160"/>
          </a:xfrm>
          <a:custGeom>
            <a:avLst/>
            <a:gdLst/>
            <a:ahLst/>
            <a:cxnLst/>
            <a:rect l="l" t="t" r="r" b="b"/>
            <a:pathLst>
              <a:path w="7315200" h="3566160">
                <a:moveTo>
                  <a:pt x="0" y="0"/>
                </a:moveTo>
                <a:lnTo>
                  <a:pt x="7315200" y="0"/>
                </a:lnTo>
                <a:lnTo>
                  <a:pt x="7315200" y="3566160"/>
                </a:lnTo>
                <a:lnTo>
                  <a:pt x="0" y="35661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-5054122">
            <a:off x="15780338" y="608066"/>
            <a:ext cx="4737544" cy="3043872"/>
          </a:xfrm>
          <a:custGeom>
            <a:avLst/>
            <a:gdLst/>
            <a:ahLst/>
            <a:cxnLst/>
            <a:rect l="l" t="t" r="r" b="b"/>
            <a:pathLst>
              <a:path w="4737544" h="3043872">
                <a:moveTo>
                  <a:pt x="0" y="0"/>
                </a:moveTo>
                <a:lnTo>
                  <a:pt x="4737544" y="0"/>
                </a:lnTo>
                <a:lnTo>
                  <a:pt x="4737544" y="3043872"/>
                </a:lnTo>
                <a:lnTo>
                  <a:pt x="0" y="304387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-1078291" y="6577407"/>
            <a:ext cx="2383045" cy="5041056"/>
          </a:xfrm>
          <a:custGeom>
            <a:avLst/>
            <a:gdLst/>
            <a:ahLst/>
            <a:cxnLst/>
            <a:rect l="l" t="t" r="r" b="b"/>
            <a:pathLst>
              <a:path w="2383045" h="5041056">
                <a:moveTo>
                  <a:pt x="0" y="0"/>
                </a:moveTo>
                <a:lnTo>
                  <a:pt x="2383045" y="0"/>
                </a:lnTo>
                <a:lnTo>
                  <a:pt x="2383045" y="5041056"/>
                </a:lnTo>
                <a:lnTo>
                  <a:pt x="0" y="504105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234430">
            <a:off x="10378336" y="7744429"/>
            <a:ext cx="5446900" cy="4609439"/>
          </a:xfrm>
          <a:custGeom>
            <a:avLst/>
            <a:gdLst/>
            <a:ahLst/>
            <a:cxnLst/>
            <a:rect l="l" t="t" r="r" b="b"/>
            <a:pathLst>
              <a:path w="5446900" h="4609439">
                <a:moveTo>
                  <a:pt x="0" y="0"/>
                </a:moveTo>
                <a:lnTo>
                  <a:pt x="5446901" y="0"/>
                </a:lnTo>
                <a:lnTo>
                  <a:pt x="5446901" y="4609439"/>
                </a:lnTo>
                <a:lnTo>
                  <a:pt x="0" y="460943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10436053">
            <a:off x="15372352" y="-286515"/>
            <a:ext cx="2283379" cy="1714610"/>
          </a:xfrm>
          <a:custGeom>
            <a:avLst/>
            <a:gdLst/>
            <a:ahLst/>
            <a:cxnLst/>
            <a:rect l="l" t="t" r="r" b="b"/>
            <a:pathLst>
              <a:path w="2283379" h="1714610">
                <a:moveTo>
                  <a:pt x="0" y="0"/>
                </a:moveTo>
                <a:lnTo>
                  <a:pt x="2283379" y="0"/>
                </a:lnTo>
                <a:lnTo>
                  <a:pt x="2283379" y="1714610"/>
                </a:lnTo>
                <a:lnTo>
                  <a:pt x="0" y="171461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71772" y="8704450"/>
            <a:ext cx="2381159" cy="1788034"/>
          </a:xfrm>
          <a:custGeom>
            <a:avLst/>
            <a:gdLst/>
            <a:ahLst/>
            <a:cxnLst/>
            <a:rect l="l" t="t" r="r" b="b"/>
            <a:pathLst>
              <a:path w="2381159" h="1788034">
                <a:moveTo>
                  <a:pt x="0" y="0"/>
                </a:moveTo>
                <a:lnTo>
                  <a:pt x="2381160" y="0"/>
                </a:lnTo>
                <a:lnTo>
                  <a:pt x="2381160" y="1788034"/>
                </a:lnTo>
                <a:lnTo>
                  <a:pt x="0" y="178803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777598">
            <a:off x="455376" y="274955"/>
            <a:ext cx="2363788" cy="2408336"/>
          </a:xfrm>
          <a:custGeom>
            <a:avLst/>
            <a:gdLst/>
            <a:ahLst/>
            <a:cxnLst/>
            <a:rect l="l" t="t" r="r" b="b"/>
            <a:pathLst>
              <a:path w="2363788" h="2408336">
                <a:moveTo>
                  <a:pt x="0" y="0"/>
                </a:moveTo>
                <a:lnTo>
                  <a:pt x="2363788" y="0"/>
                </a:lnTo>
                <a:lnTo>
                  <a:pt x="2363788" y="2408336"/>
                </a:lnTo>
                <a:lnTo>
                  <a:pt x="0" y="240833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862090" y="2960958"/>
            <a:ext cx="4782889" cy="1675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59"/>
              </a:lnSpc>
            </a:pPr>
            <a:r>
              <a:rPr lang="en-US" sz="10687" spc="128">
                <a:solidFill>
                  <a:srgbClr val="000000"/>
                </a:solidFill>
                <a:latin typeface="Dynapuff SemiCondensed Bold"/>
              </a:rPr>
              <a:t>TEORIA</a:t>
            </a:r>
          </a:p>
        </p:txBody>
      </p:sp>
      <p:sp>
        <p:nvSpPr>
          <p:cNvPr id="18" name="Freeform 18"/>
          <p:cNvSpPr/>
          <p:nvPr/>
        </p:nvSpPr>
        <p:spPr>
          <a:xfrm rot="-4658144" flipH="1">
            <a:off x="9999895" y="1714515"/>
            <a:ext cx="1141089" cy="1141089"/>
          </a:xfrm>
          <a:custGeom>
            <a:avLst/>
            <a:gdLst/>
            <a:ahLst/>
            <a:cxnLst/>
            <a:rect l="l" t="t" r="r" b="b"/>
            <a:pathLst>
              <a:path w="1141089" h="1141089">
                <a:moveTo>
                  <a:pt x="1141088" y="0"/>
                </a:moveTo>
                <a:lnTo>
                  <a:pt x="0" y="0"/>
                </a:lnTo>
                <a:lnTo>
                  <a:pt x="0" y="1141089"/>
                </a:lnTo>
                <a:lnTo>
                  <a:pt x="1141088" y="1141089"/>
                </a:lnTo>
                <a:lnTo>
                  <a:pt x="1141088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2620208" flipH="1">
            <a:off x="11724588" y="3384645"/>
            <a:ext cx="1141089" cy="1141089"/>
          </a:xfrm>
          <a:custGeom>
            <a:avLst/>
            <a:gdLst/>
            <a:ahLst/>
            <a:cxnLst/>
            <a:rect l="l" t="t" r="r" b="b"/>
            <a:pathLst>
              <a:path w="1141089" h="1141089">
                <a:moveTo>
                  <a:pt x="1141089" y="0"/>
                </a:moveTo>
                <a:lnTo>
                  <a:pt x="0" y="0"/>
                </a:lnTo>
                <a:lnTo>
                  <a:pt x="0" y="1141088"/>
                </a:lnTo>
                <a:lnTo>
                  <a:pt x="1141089" y="1141088"/>
                </a:lnTo>
                <a:lnTo>
                  <a:pt x="1141089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3271777" flipH="1">
            <a:off x="8708645" y="5651994"/>
            <a:ext cx="870710" cy="870710"/>
          </a:xfrm>
          <a:custGeom>
            <a:avLst/>
            <a:gdLst/>
            <a:ahLst/>
            <a:cxnLst/>
            <a:rect l="l" t="t" r="r" b="b"/>
            <a:pathLst>
              <a:path w="870710" h="870710">
                <a:moveTo>
                  <a:pt x="870710" y="0"/>
                </a:moveTo>
                <a:lnTo>
                  <a:pt x="0" y="0"/>
                </a:lnTo>
                <a:lnTo>
                  <a:pt x="0" y="870711"/>
                </a:lnTo>
                <a:lnTo>
                  <a:pt x="870710" y="870711"/>
                </a:lnTo>
                <a:lnTo>
                  <a:pt x="87071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3263436">
            <a:off x="5342016" y="3786464"/>
            <a:ext cx="1141089" cy="1141089"/>
          </a:xfrm>
          <a:custGeom>
            <a:avLst/>
            <a:gdLst/>
            <a:ahLst/>
            <a:cxnLst/>
            <a:rect l="l" t="t" r="r" b="b"/>
            <a:pathLst>
              <a:path w="1141089" h="1141089">
                <a:moveTo>
                  <a:pt x="0" y="0"/>
                </a:moveTo>
                <a:lnTo>
                  <a:pt x="1141089" y="0"/>
                </a:lnTo>
                <a:lnTo>
                  <a:pt x="1141089" y="1141089"/>
                </a:lnTo>
                <a:lnTo>
                  <a:pt x="0" y="114108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-6338204" flipH="1" flipV="1">
            <a:off x="7263055" y="1628691"/>
            <a:ext cx="1141089" cy="1141089"/>
          </a:xfrm>
          <a:custGeom>
            <a:avLst/>
            <a:gdLst/>
            <a:ahLst/>
            <a:cxnLst/>
            <a:rect l="l" t="t" r="r" b="b"/>
            <a:pathLst>
              <a:path w="1141089" h="1141089">
                <a:moveTo>
                  <a:pt x="1141089" y="1141088"/>
                </a:moveTo>
                <a:lnTo>
                  <a:pt x="0" y="1141088"/>
                </a:lnTo>
                <a:lnTo>
                  <a:pt x="0" y="0"/>
                </a:lnTo>
                <a:lnTo>
                  <a:pt x="1141089" y="0"/>
                </a:lnTo>
                <a:lnTo>
                  <a:pt x="1141089" y="1141088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353077" y="5547306"/>
            <a:ext cx="3459174" cy="528310"/>
          </a:xfrm>
          <a:custGeom>
            <a:avLst/>
            <a:gdLst/>
            <a:ahLst/>
            <a:cxnLst/>
            <a:rect l="l" t="t" r="r" b="b"/>
            <a:pathLst>
              <a:path w="3459174" h="528310">
                <a:moveTo>
                  <a:pt x="0" y="0"/>
                </a:moveTo>
                <a:lnTo>
                  <a:pt x="3459174" y="0"/>
                </a:lnTo>
                <a:lnTo>
                  <a:pt x="3459174" y="528310"/>
                </a:lnTo>
                <a:lnTo>
                  <a:pt x="0" y="52831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3854685">
            <a:off x="14173995" y="4635647"/>
            <a:ext cx="1203622" cy="234706"/>
          </a:xfrm>
          <a:custGeom>
            <a:avLst/>
            <a:gdLst/>
            <a:ahLst/>
            <a:cxnLst/>
            <a:rect l="l" t="t" r="r" b="b"/>
            <a:pathLst>
              <a:path w="1203622" h="234706">
                <a:moveTo>
                  <a:pt x="0" y="0"/>
                </a:moveTo>
                <a:lnTo>
                  <a:pt x="1203622" y="0"/>
                </a:lnTo>
                <a:lnTo>
                  <a:pt x="1203622" y="234706"/>
                </a:lnTo>
                <a:lnTo>
                  <a:pt x="0" y="23470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3427124">
            <a:off x="13186077" y="4162584"/>
            <a:ext cx="312435" cy="933910"/>
          </a:xfrm>
          <a:custGeom>
            <a:avLst/>
            <a:gdLst/>
            <a:ahLst/>
            <a:cxnLst/>
            <a:rect l="l" t="t" r="r" b="b"/>
            <a:pathLst>
              <a:path w="312435" h="933910">
                <a:moveTo>
                  <a:pt x="0" y="0"/>
                </a:moveTo>
                <a:lnTo>
                  <a:pt x="312435" y="0"/>
                </a:lnTo>
                <a:lnTo>
                  <a:pt x="312435" y="933909"/>
                </a:lnTo>
                <a:lnTo>
                  <a:pt x="0" y="933909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125307">
            <a:off x="15634747" y="4599458"/>
            <a:ext cx="426532" cy="1895697"/>
          </a:xfrm>
          <a:custGeom>
            <a:avLst/>
            <a:gdLst/>
            <a:ahLst/>
            <a:cxnLst/>
            <a:rect l="l" t="t" r="r" b="b"/>
            <a:pathLst>
              <a:path w="426532" h="1895697">
                <a:moveTo>
                  <a:pt x="0" y="0"/>
                </a:moveTo>
                <a:lnTo>
                  <a:pt x="426531" y="0"/>
                </a:lnTo>
                <a:lnTo>
                  <a:pt x="426531" y="1895697"/>
                </a:lnTo>
                <a:lnTo>
                  <a:pt x="0" y="189569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7860604" y="6646913"/>
            <a:ext cx="2785860" cy="80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44"/>
              </a:lnSpc>
              <a:spcBef>
                <a:spcPct val="0"/>
              </a:spcBef>
            </a:pPr>
            <a:r>
              <a:rPr lang="en-US" sz="2317">
                <a:solidFill>
                  <a:srgbClr val="000000"/>
                </a:solidFill>
                <a:latin typeface="Dynapuff SemiCondensed"/>
              </a:rPr>
              <a:t>HERRAMIENTAS CULTURALES</a:t>
            </a:r>
          </a:p>
        </p:txBody>
      </p:sp>
      <p:sp>
        <p:nvSpPr>
          <p:cNvPr id="28" name="Freeform 28"/>
          <p:cNvSpPr/>
          <p:nvPr/>
        </p:nvSpPr>
        <p:spPr>
          <a:xfrm rot="3427124">
            <a:off x="7419762" y="6630776"/>
            <a:ext cx="402311" cy="1202561"/>
          </a:xfrm>
          <a:custGeom>
            <a:avLst/>
            <a:gdLst/>
            <a:ahLst/>
            <a:cxnLst/>
            <a:rect l="l" t="t" r="r" b="b"/>
            <a:pathLst>
              <a:path w="402311" h="1202561">
                <a:moveTo>
                  <a:pt x="0" y="0"/>
                </a:moveTo>
                <a:lnTo>
                  <a:pt x="402311" y="0"/>
                </a:lnTo>
                <a:lnTo>
                  <a:pt x="402311" y="1202561"/>
                </a:lnTo>
                <a:lnTo>
                  <a:pt x="0" y="1202561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2332695">
            <a:off x="10249066" y="7157423"/>
            <a:ext cx="1126369" cy="219642"/>
          </a:xfrm>
          <a:custGeom>
            <a:avLst/>
            <a:gdLst/>
            <a:ahLst/>
            <a:cxnLst/>
            <a:rect l="l" t="t" r="r" b="b"/>
            <a:pathLst>
              <a:path w="1126369" h="219642">
                <a:moveTo>
                  <a:pt x="0" y="0"/>
                </a:moveTo>
                <a:lnTo>
                  <a:pt x="1126369" y="0"/>
                </a:lnTo>
                <a:lnTo>
                  <a:pt x="1126369" y="219641"/>
                </a:lnTo>
                <a:lnTo>
                  <a:pt x="0" y="219641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5400000">
            <a:off x="6390992" y="6494541"/>
            <a:ext cx="379045" cy="3309127"/>
          </a:xfrm>
          <a:custGeom>
            <a:avLst/>
            <a:gdLst/>
            <a:ahLst/>
            <a:cxnLst/>
            <a:rect l="l" t="t" r="r" b="b"/>
            <a:pathLst>
              <a:path w="379045" h="3309127">
                <a:moveTo>
                  <a:pt x="0" y="0"/>
                </a:moveTo>
                <a:lnTo>
                  <a:pt x="379046" y="0"/>
                </a:lnTo>
                <a:lnTo>
                  <a:pt x="379046" y="3309127"/>
                </a:lnTo>
                <a:lnTo>
                  <a:pt x="0" y="3309127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5400000">
            <a:off x="11479393" y="6494541"/>
            <a:ext cx="379045" cy="3309127"/>
          </a:xfrm>
          <a:custGeom>
            <a:avLst/>
            <a:gdLst/>
            <a:ahLst/>
            <a:cxnLst/>
            <a:rect l="l" t="t" r="r" b="b"/>
            <a:pathLst>
              <a:path w="379045" h="3309127">
                <a:moveTo>
                  <a:pt x="0" y="0"/>
                </a:moveTo>
                <a:lnTo>
                  <a:pt x="379045" y="0"/>
                </a:lnTo>
                <a:lnTo>
                  <a:pt x="379045" y="3309127"/>
                </a:lnTo>
                <a:lnTo>
                  <a:pt x="0" y="3309127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rot="5486679">
            <a:off x="3395847" y="3858118"/>
            <a:ext cx="232754" cy="2169736"/>
          </a:xfrm>
          <a:custGeom>
            <a:avLst/>
            <a:gdLst/>
            <a:ahLst/>
            <a:cxnLst/>
            <a:rect l="l" t="t" r="r" b="b"/>
            <a:pathLst>
              <a:path w="232754" h="2169736">
                <a:moveTo>
                  <a:pt x="0" y="0"/>
                </a:moveTo>
                <a:lnTo>
                  <a:pt x="232753" y="0"/>
                </a:lnTo>
                <a:lnTo>
                  <a:pt x="232753" y="2169736"/>
                </a:lnTo>
                <a:lnTo>
                  <a:pt x="0" y="2169736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2961557" y="1577473"/>
            <a:ext cx="4051183" cy="431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4"/>
              </a:lnSpc>
              <a:spcBef>
                <a:spcPct val="0"/>
              </a:spcBef>
            </a:pPr>
            <a:r>
              <a:rPr lang="en-US" sz="2517">
                <a:solidFill>
                  <a:srgbClr val="000000"/>
                </a:solidFill>
                <a:latin typeface="Dynapuff SemiCondensed"/>
              </a:rPr>
              <a:t>APRENDIZAJE COLABORATIVO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16550" y="4509100"/>
            <a:ext cx="7454899" cy="806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6"/>
              </a:lnSpc>
            </a:pPr>
            <a:r>
              <a:rPr lang="en-US" sz="5045" spc="60">
                <a:solidFill>
                  <a:srgbClr val="000000"/>
                </a:solidFill>
                <a:latin typeface="Dynapuff SemiCondensed Bold"/>
              </a:rPr>
              <a:t>SOCIALCULTURAL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23069" y="3898039"/>
            <a:ext cx="2888658" cy="86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24"/>
              </a:lnSpc>
              <a:spcBef>
                <a:spcPct val="0"/>
              </a:spcBef>
            </a:pPr>
            <a:r>
              <a:rPr lang="en-US" sz="2517">
                <a:solidFill>
                  <a:srgbClr val="000000"/>
                </a:solidFill>
                <a:latin typeface="Dynapuff SemiCondensed"/>
              </a:rPr>
              <a:t>INTERNALIZACIÓN DEL CONOCIMIENTO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94004" y="5924422"/>
            <a:ext cx="1811353" cy="1433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6"/>
              </a:lnSpc>
            </a:pPr>
            <a:r>
              <a:rPr lang="en-US" sz="1094">
                <a:solidFill>
                  <a:srgbClr val="000000"/>
                </a:solidFill>
                <a:latin typeface="More Sugar Thin"/>
              </a:rPr>
              <a:t>El nivel de desarrollo real se refiere a las habilidades que una persona puede demostrar de forma independiente, mientras que el nivel de desarrollo potencial incluye las habilidades que pueden alcanzarse con la ayuda de otros..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74108" y="922666"/>
            <a:ext cx="2888658" cy="556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4"/>
              </a:lnSpc>
              <a:spcBef>
                <a:spcPct val="0"/>
              </a:spcBef>
            </a:pPr>
            <a:r>
              <a:rPr lang="en-US" sz="3217">
                <a:solidFill>
                  <a:srgbClr val="000000"/>
                </a:solidFill>
                <a:latin typeface="Dynapuff SemiCondensed"/>
              </a:rPr>
              <a:t>LET VYGOTSKY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49919" y="1543938"/>
            <a:ext cx="3462130" cy="1482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812">
                <a:solidFill>
                  <a:srgbClr val="000000"/>
                </a:solidFill>
                <a:latin typeface="More Sugar Thin"/>
              </a:rPr>
              <a:t>Ayudo en la concepción del constructivismo, cuando se emplanto en la educación básica. Muestra como la sociedad y la cultura intervienen en el desarrollo del aprendizaje en los niños.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980983" y="3774684"/>
            <a:ext cx="3141418" cy="41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4"/>
              </a:lnSpc>
              <a:spcBef>
                <a:spcPct val="0"/>
              </a:spcBef>
            </a:pPr>
            <a:r>
              <a:rPr lang="en-US" sz="2417">
                <a:solidFill>
                  <a:srgbClr val="000000"/>
                </a:solidFill>
                <a:latin typeface="Dynapuff SemiCondensed"/>
              </a:rPr>
              <a:t>DESARROLLO INFANTIL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956659" y="5439023"/>
            <a:ext cx="2164014" cy="14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endParaRPr/>
          </a:p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 Thin"/>
              </a:rPr>
              <a:t>Nivel entre la zona desarrollo y el alcance de la zona potencial, y se aplica el método de andamiaje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408608" y="5309514"/>
            <a:ext cx="1201757" cy="49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"/>
              </a:rPr>
              <a:t>Infuencia del Entorno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36253" y="5003910"/>
            <a:ext cx="1682999" cy="72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"/>
              </a:rPr>
              <a:t>Zona de Desarrollo Próximo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858015" y="4629538"/>
            <a:ext cx="1776020" cy="1628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88"/>
              </a:lnSpc>
            </a:pPr>
            <a:endParaRPr/>
          </a:p>
          <a:p>
            <a:pPr marL="303503" lvl="1" indent="-151752">
              <a:lnSpc>
                <a:spcPts val="1588"/>
              </a:lnSpc>
              <a:buFont typeface="Arial"/>
              <a:buChar char="•"/>
            </a:pPr>
            <a:r>
              <a:rPr lang="en-US" sz="1405">
                <a:solidFill>
                  <a:srgbClr val="000000"/>
                </a:solidFill>
                <a:latin typeface="More Sugar Thin"/>
              </a:rPr>
              <a:t>Apoyo emocional</a:t>
            </a:r>
          </a:p>
          <a:p>
            <a:pPr marL="303503" lvl="1" indent="-151752">
              <a:lnSpc>
                <a:spcPts val="1588"/>
              </a:lnSpc>
              <a:buFont typeface="Arial"/>
              <a:buChar char="•"/>
            </a:pPr>
            <a:r>
              <a:rPr lang="en-US" sz="1405">
                <a:solidFill>
                  <a:srgbClr val="000000"/>
                </a:solidFill>
                <a:latin typeface="More Sugar Thin"/>
              </a:rPr>
              <a:t>Modelado de Comportamiento</a:t>
            </a:r>
          </a:p>
          <a:p>
            <a:pPr marL="303503" lvl="1" indent="-151752">
              <a:lnSpc>
                <a:spcPts val="1588"/>
              </a:lnSpc>
              <a:buFont typeface="Arial"/>
              <a:buChar char="•"/>
            </a:pPr>
            <a:r>
              <a:rPr lang="en-US" sz="1405">
                <a:solidFill>
                  <a:srgbClr val="000000"/>
                </a:solidFill>
                <a:latin typeface="More Sugar Thin"/>
              </a:rPr>
              <a:t>Oportunidad de aprendizaje</a:t>
            </a:r>
          </a:p>
          <a:p>
            <a:pPr marL="303503" lvl="1" indent="-151752">
              <a:lnSpc>
                <a:spcPts val="1588"/>
              </a:lnSpc>
              <a:buFont typeface="Arial"/>
              <a:buChar char="•"/>
            </a:pPr>
            <a:r>
              <a:rPr lang="en-US" sz="1405">
                <a:solidFill>
                  <a:srgbClr val="000000"/>
                </a:solidFill>
                <a:latin typeface="More Sugar Thin"/>
              </a:rPr>
              <a:t>Normas y valores</a:t>
            </a:r>
          </a:p>
          <a:p>
            <a:pPr>
              <a:lnSpc>
                <a:spcPts val="1588"/>
              </a:lnSpc>
            </a:pPr>
            <a:endParaRPr lang="en-US" sz="1405">
              <a:solidFill>
                <a:srgbClr val="000000"/>
              </a:solidFill>
              <a:latin typeface="More Sugar Thin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570477" y="7683165"/>
            <a:ext cx="4300673" cy="25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"/>
              </a:rPr>
              <a:t>Lenguaje como Herramienta Cognitvia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18579" y="7706230"/>
            <a:ext cx="4300673" cy="25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"/>
              </a:rPr>
              <a:t>Uso de Instrumentos Culturales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59917" y="8222290"/>
            <a:ext cx="2164014" cy="50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endParaRPr/>
          </a:p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 Thin"/>
              </a:rPr>
              <a:t>Pensamiento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81714" y="8222290"/>
            <a:ext cx="2164014" cy="50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endParaRPr/>
          </a:p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 Thin"/>
              </a:rPr>
              <a:t>Experiencia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252073" y="8222290"/>
            <a:ext cx="2164014" cy="50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endParaRPr/>
          </a:p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 Thin"/>
              </a:rPr>
              <a:t>Interpsicológico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873869" y="8222290"/>
            <a:ext cx="2164014" cy="50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endParaRPr/>
          </a:p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 Thin"/>
              </a:rPr>
              <a:t>Intrapsicológico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23406" y="5118619"/>
            <a:ext cx="1944312" cy="49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"/>
              </a:rPr>
              <a:t>Proceso de Internalización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598321" y="5118619"/>
            <a:ext cx="1944312" cy="72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"/>
              </a:rPr>
              <a:t>Proceso de Nivel de Desarrollo Real y Pontencial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23406" y="5686297"/>
            <a:ext cx="1720457" cy="977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36"/>
              </a:lnSpc>
              <a:spcBef>
                <a:spcPct val="0"/>
              </a:spcBef>
            </a:pPr>
            <a:r>
              <a:rPr lang="en-US" sz="1094" u="none" strike="noStrike">
                <a:solidFill>
                  <a:srgbClr val="000000"/>
                </a:solidFill>
                <a:latin typeface="More Sugar Thin"/>
              </a:rPr>
              <a:t>Implica la adquisición de habilidades, conocimientos y valores a través de la interacción social y su integración en la estructura mental de la persona.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742863" y="2507497"/>
            <a:ext cx="1944312" cy="49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"/>
              </a:rPr>
              <a:t>Interacción con Otros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917778" y="2507497"/>
            <a:ext cx="1944312" cy="49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712">
                <a:solidFill>
                  <a:srgbClr val="000000"/>
                </a:solidFill>
                <a:latin typeface="More Sugar"/>
              </a:rPr>
              <a:t>Apoyo de Adultos y Pares</a:t>
            </a:r>
          </a:p>
        </p:txBody>
      </p:sp>
      <p:sp>
        <p:nvSpPr>
          <p:cNvPr id="55" name="Freeform 55"/>
          <p:cNvSpPr/>
          <p:nvPr/>
        </p:nvSpPr>
        <p:spPr>
          <a:xfrm rot="5486679">
            <a:off x="4665085" y="1173248"/>
            <a:ext cx="232754" cy="2169736"/>
          </a:xfrm>
          <a:custGeom>
            <a:avLst/>
            <a:gdLst/>
            <a:ahLst/>
            <a:cxnLst/>
            <a:rect l="l" t="t" r="r" b="b"/>
            <a:pathLst>
              <a:path w="232754" h="2169736">
                <a:moveTo>
                  <a:pt x="0" y="0"/>
                </a:moveTo>
                <a:lnTo>
                  <a:pt x="232753" y="0"/>
                </a:lnTo>
                <a:lnTo>
                  <a:pt x="232753" y="2169736"/>
                </a:lnTo>
                <a:lnTo>
                  <a:pt x="0" y="2169736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Personalizado</PresentationFormat>
  <Paragraphs>33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Dynapuff SemiCondensed Bold</vt:lpstr>
      <vt:lpstr>More Sugar</vt:lpstr>
      <vt:lpstr>Arial</vt:lpstr>
      <vt:lpstr>Calibri</vt:lpstr>
      <vt:lpstr>Dynapuff SemiCondensed</vt:lpstr>
      <vt:lpstr>More Sugar Thin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Pastel Marketing Strategy Mind Map Brainstorm</dc:title>
  <dc:creator>User</dc:creator>
  <cp:lastModifiedBy>FRANK CLEMENTE</cp:lastModifiedBy>
  <cp:revision>2</cp:revision>
  <dcterms:created xsi:type="dcterms:W3CDTF">2006-08-16T00:00:00Z</dcterms:created>
  <dcterms:modified xsi:type="dcterms:W3CDTF">2024-04-22T00:09:22Z</dcterms:modified>
  <dc:identifier>DAGDFxlN-iY</dc:identifier>
</cp:coreProperties>
</file>